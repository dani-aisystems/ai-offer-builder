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(research log):
1. ESA licence display rule — Electrical Safety Authority, n.d. — https://esasafe.com/contractors/display-your-licence/
2. 40 per cent never checked permits — ESA, published by TRREB, 2025 — https://trreb.ca/electrical-safety-a-smart-move-for-buyers-and-sellers
3. 97% read reviews; 54% then check the website — BrightLocal, 2026 (US data, 1,002 US adults) — https://www.brightlocal.com/research/local-consumer-review-survey/
4. AI tools for local recommendations 6% to 45% — BrightLocal, 2026 (US data) — https://www.brightlocal.com/research/local-consumer-review-survey/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Client-supplied: 25–40 inquiries and 10–18 new customers a month; CA$500–CA$2,500 per customer.
Example arithmetic: 2 × CA$500 = CA$1,000 a month; CA$2,650 ÷ CA$1,000 = 2.65 months (revenue before job costs, build cost only).
Source for the cost per click: LocaliQ Home Services Search Ads Benchmarks, 2026 (US data, Apr 2024–Mar 2025) — https://localiq.com/blog/home-services-search-advertising-benchmarks/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219170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D&amp;M Digital Partners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Northline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/ 10</a:t>
            </a:r>
            <a:endParaRPr lang="en-CA" sz="1000" dirty="0"/>
          </a:p>
        </p:txBody>
      </p:sp>
      <p:sp>
        <p:nvSpPr>
          <p:cNvPr id="6" name="Shape 4"/>
          <p:cNvSpPr/>
          <p:nvPr/>
        </p:nvSpPr>
        <p:spPr>
          <a:xfrm>
            <a:off x="7086600" y="868680"/>
            <a:ext cx="4754880" cy="4754880"/>
          </a:xfrm>
          <a:prstGeom prst="ellipse">
            <a:avLst/>
          </a:prstGeom>
          <a:solidFill>
            <a:srgbClr val="F7F5F0">
              <a:alpha val="0"/>
            </a:srgbClr>
          </a:solidFill>
          <a:ln w="19050">
            <a:solidFill>
              <a:srgbClr val="E8B89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54112" y="1536192"/>
            <a:ext cx="3419856" cy="3419856"/>
          </a:xfrm>
          <a:prstGeom prst="ellipse">
            <a:avLst/>
          </a:prstGeom>
          <a:solidFill>
            <a:srgbClr val="F7F5F0">
              <a:alpha val="0"/>
            </a:srgbClr>
          </a:solidFill>
          <a:ln w="19050">
            <a:solidFill>
              <a:srgbClr val="E8B89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13064" y="2295144"/>
            <a:ext cx="1901952" cy="1901952"/>
          </a:xfrm>
          <a:prstGeom prst="ellipse">
            <a:avLst/>
          </a:prstGeom>
          <a:solidFill>
            <a:srgbClr val="F7F5F0">
              <a:alpha val="0"/>
            </a:srgbClr>
          </a:solidFill>
          <a:ln w="57150">
            <a:solidFill>
              <a:srgbClr val="D97757"/>
            </a:solidFill>
            <a:prstDash val="solid"/>
          </a:ln>
        </p:spPr>
      </p:sp>
      <p:pic>
        <p:nvPicPr>
          <p:cNvPr id="9" name="Image 0" descr="D&amp;M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1337237" cy="1280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22128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WEBSITE PROPOSAL</a:t>
            </a:r>
            <a:endParaRPr lang="en-CA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251460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CA" altLang="en-US" sz="44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Northline</a:t>
            </a:r>
            <a:endParaRPr lang="en-CA" sz="4400" dirty="0"/>
          </a:p>
          <a:p>
            <a:pPr indent="0" marL="0">
              <a:lnSpc>
                <a:spcPct val="90000"/>
              </a:lnSpc>
              <a:buNone/>
            </a:pPr>
            <a:r>
              <a:rPr lang="en-CA" altLang="en-US" sz="44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Electrical</a:t>
            </a:r>
            <a:endParaRPr lang="en-CA" sz="4400" dirty="0"/>
          </a:p>
          <a:p>
            <a:pPr indent="0" marL="0">
              <a:lnSpc>
                <a:spcPct val="90000"/>
              </a:lnSpc>
              <a:buNone/>
            </a:pPr>
            <a:r>
              <a:rPr lang="en-CA" altLang="en-US" sz="44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Solutions</a:t>
            </a:r>
            <a:endParaRPr lang="en-CA" sz="4400" dirty="0"/>
          </a:p>
        </p:txBody>
      </p:sp>
      <p:sp>
        <p:nvSpPr>
          <p:cNvPr id="12" name="Shape 9"/>
          <p:cNvSpPr/>
          <p:nvPr/>
        </p:nvSpPr>
        <p:spPr>
          <a:xfrm>
            <a:off x="685800" y="4754880"/>
            <a:ext cx="914400" cy="6400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493776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8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website that turns GTA searches into qualified calls.</a:t>
            </a:r>
            <a:endParaRPr lang="en-CA" sz="1800" dirty="0"/>
          </a:p>
        </p:txBody>
      </p:sp>
      <p:sp>
        <p:nvSpPr>
          <p:cNvPr id="14" name="Text 11"/>
          <p:cNvSpPr/>
          <p:nvPr/>
        </p:nvSpPr>
        <p:spPr>
          <a:xfrm>
            <a:off x="685800" y="53949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D&amp;M Digital Partners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September 15, 2026</a:t>
            </a:r>
            <a:endParaRPr lang="en-CA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2438339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D&amp;M Digital Partners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Northline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/ 10</a:t>
            </a:r>
            <a:endParaRPr lang="en-CA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THIS MATTERS NOW</a:t>
            </a:r>
            <a:endParaRPr lang="en-CA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768096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2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Trust gets checked online before the phone rings</a:t>
            </a:r>
            <a:endParaRPr lang="en-CA" sz="2800" dirty="0"/>
          </a:p>
        </p:txBody>
      </p:sp>
      <p:sp>
        <p:nvSpPr>
          <p:cNvPr id="8" name="Shape 6"/>
          <p:cNvSpPr/>
          <p:nvPr/>
        </p:nvSpPr>
        <p:spPr>
          <a:xfrm>
            <a:off x="685800" y="1426464"/>
            <a:ext cx="6400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783080"/>
            <a:ext cx="529574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783080"/>
            <a:ext cx="5295748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984248"/>
            <a:ext cx="474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36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Required</a:t>
            </a:r>
            <a:endParaRPr lang="en-CA" sz="3600" dirty="0"/>
          </a:p>
        </p:txBody>
      </p:sp>
      <p:sp>
        <p:nvSpPr>
          <p:cNvPr id="12" name="Text 10"/>
          <p:cNvSpPr/>
          <p:nvPr/>
        </p:nvSpPr>
        <p:spPr>
          <a:xfrm>
            <a:off x="960120" y="2624328"/>
            <a:ext cx="47471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Ontario’s Electrical Safety Authority says a licensed electrical contractor’s ECRA/ESA licence number must appear on its website, ads, invoices and business vehicles.</a:t>
            </a:r>
            <a:endParaRPr lang="en-CA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538728"/>
            <a:ext cx="4747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Electrical Safety Authority (ESA), Ontario Regulation 570/05, n.d.</a:t>
            </a:r>
            <a:endParaRPr lang="en-CA" sz="1000" dirty="0"/>
          </a:p>
        </p:txBody>
      </p:sp>
      <p:sp>
        <p:nvSpPr>
          <p:cNvPr id="14" name="Shape 12"/>
          <p:cNvSpPr/>
          <p:nvPr/>
        </p:nvSpPr>
        <p:spPr>
          <a:xfrm>
            <a:off x="6210148" y="1783080"/>
            <a:ext cx="529574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0148" y="1783080"/>
            <a:ext cx="5295748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6484468" y="1984248"/>
            <a:ext cx="474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36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40%</a:t>
            </a:r>
            <a:endParaRPr lang="en-CA" sz="3600" dirty="0"/>
          </a:p>
        </p:txBody>
      </p:sp>
      <p:sp>
        <p:nvSpPr>
          <p:cNvPr id="17" name="Text 15"/>
          <p:cNvSpPr/>
          <p:nvPr/>
        </p:nvSpPr>
        <p:spPr>
          <a:xfrm>
            <a:off x="6484468" y="2624328"/>
            <a:ext cx="47471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Ontario homeowners have never checked whether the required permits were obtained for electrical work in their home. A contractor who explains permits up front stands out.</a:t>
            </a:r>
            <a:endParaRPr lang="en-CA" sz="1400" dirty="0"/>
          </a:p>
        </p:txBody>
      </p:sp>
      <p:sp>
        <p:nvSpPr>
          <p:cNvPr id="18" name="Text 16"/>
          <p:cNvSpPr/>
          <p:nvPr/>
        </p:nvSpPr>
        <p:spPr>
          <a:xfrm>
            <a:off x="6484468" y="3538728"/>
            <a:ext cx="4747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Electrical Safety Authority, via TRREB, 2025</a:t>
            </a:r>
            <a:endParaRPr lang="en-CA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4023360"/>
            <a:ext cx="529574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023360"/>
            <a:ext cx="5295748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224528"/>
            <a:ext cx="474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36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97%</a:t>
            </a:r>
            <a:endParaRPr lang="en-CA" sz="3600" dirty="0"/>
          </a:p>
        </p:txBody>
      </p:sp>
      <p:sp>
        <p:nvSpPr>
          <p:cNvPr id="22" name="Text 20"/>
          <p:cNvSpPr/>
          <p:nvPr/>
        </p:nvSpPr>
        <p:spPr>
          <a:xfrm>
            <a:off x="960120" y="4864608"/>
            <a:ext cx="47471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consumers read reviews for local businesses, and 54% then go on to check the business’s website.</a:t>
            </a:r>
            <a:endParaRPr lang="en-CA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5779008"/>
            <a:ext cx="4747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BrightLocal, Local Consumer Review Survey, 2026</a:t>
            </a:r>
            <a:pPr indent="0" marL="0">
              <a:lnSpc>
                <a:spcPct val="11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US data</a:t>
            </a:r>
            <a:endParaRPr lang="en-CA" sz="1000" dirty="0"/>
          </a:p>
        </p:txBody>
      </p:sp>
      <p:sp>
        <p:nvSpPr>
          <p:cNvPr id="24" name="Shape 22"/>
          <p:cNvSpPr/>
          <p:nvPr/>
        </p:nvSpPr>
        <p:spPr>
          <a:xfrm>
            <a:off x="6210148" y="4023360"/>
            <a:ext cx="529574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0148" y="4023360"/>
            <a:ext cx="5295748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6" name="Text 24"/>
          <p:cNvSpPr/>
          <p:nvPr/>
        </p:nvSpPr>
        <p:spPr>
          <a:xfrm>
            <a:off x="6484468" y="4224528"/>
            <a:ext cx="474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36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6% → 45%</a:t>
            </a:r>
            <a:endParaRPr lang="en-CA" sz="3600" dirty="0"/>
          </a:p>
        </p:txBody>
      </p:sp>
      <p:sp>
        <p:nvSpPr>
          <p:cNvPr id="27" name="Text 25"/>
          <p:cNvSpPr/>
          <p:nvPr/>
        </p:nvSpPr>
        <p:spPr>
          <a:xfrm>
            <a:off x="6484468" y="4864608"/>
            <a:ext cx="47471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consumers used ChatGPT and other AI tools for local recommendations, in a single year. Clear service pages give these tools accurate answers to draw on.</a:t>
            </a:r>
            <a:endParaRPr lang="en-CA" sz="1400" dirty="0"/>
          </a:p>
        </p:txBody>
      </p:sp>
      <p:sp>
        <p:nvSpPr>
          <p:cNvPr id="28" name="Text 26"/>
          <p:cNvSpPr/>
          <p:nvPr/>
        </p:nvSpPr>
        <p:spPr>
          <a:xfrm>
            <a:off x="6484468" y="5779008"/>
            <a:ext cx="4747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BrightLocal, Local Consumer Review Survey, 2026</a:t>
            </a:r>
            <a:pPr indent="0" marL="0">
              <a:lnSpc>
                <a:spcPct val="11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US data</a:t>
            </a:r>
            <a:endParaRPr lang="en-CA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3657509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D&amp;M Digital Partners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Northline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/ 10</a:t>
            </a:r>
            <a:endParaRPr lang="en-CA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ANALYSIS</a:t>
            </a:r>
            <a:endParaRPr lang="en-CA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768096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2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A strong business behind an outdated website</a:t>
            </a:r>
            <a:endParaRPr lang="en-CA" sz="2800" dirty="0"/>
          </a:p>
        </p:txBody>
      </p:sp>
      <p:sp>
        <p:nvSpPr>
          <p:cNvPr id="8" name="Shape 6"/>
          <p:cNvSpPr/>
          <p:nvPr/>
        </p:nvSpPr>
        <p:spPr>
          <a:xfrm>
            <a:off x="685800" y="1426464"/>
            <a:ext cx="6400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783080"/>
            <a:ext cx="5295748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057400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Today</a:t>
            </a:r>
            <a:endParaRPr lang="en-CA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465566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0000"/>
              </a:lnSpc>
              <a:buClr>
                <a:srgbClr val="5A5750"/>
              </a:buClr>
              <a:buSzPct val="70000"/>
              <a:buChar char="■"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basic, outdated website that generates very few qualified leads</a:t>
            </a:r>
            <a:endParaRPr lang="en-CA" sz="1400" dirty="0"/>
          </a:p>
          <a:p>
            <a:pPr marL="254000" indent="-254000">
              <a:lnSpc>
                <a:spcPct val="110000"/>
              </a:lnSpc>
              <a:spcBef>
                <a:spcPts val="1600"/>
              </a:spcBef>
              <a:buClr>
                <a:srgbClr val="5A5750"/>
              </a:buClr>
              <a:buSzPct val="70000"/>
              <a:buChar char="■"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Services, service area and credentials don’t come across clearly online</a:t>
            </a:r>
            <a:endParaRPr lang="en-CA" sz="1400" dirty="0"/>
          </a:p>
          <a:p>
            <a:pPr marL="254000" indent="-254000">
              <a:lnSpc>
                <a:spcPct val="110000"/>
              </a:lnSpc>
              <a:spcBef>
                <a:spcPts val="1600"/>
              </a:spcBef>
              <a:buClr>
                <a:srgbClr val="5A5750"/>
              </a:buClr>
              <a:buSzPct val="70000"/>
              <a:buChar char="■"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work comes from referrals, Google Maps, repeat customers, general contractors and phone calls</a:t>
            </a:r>
            <a:endParaRPr lang="en-CA" sz="1400" dirty="0"/>
          </a:p>
          <a:p>
            <a:pPr marL="254000" indent="-254000">
              <a:lnSpc>
                <a:spcPct val="110000"/>
              </a:lnSpc>
              <a:spcBef>
                <a:spcPts val="1600"/>
              </a:spcBef>
              <a:buClr>
                <a:srgbClr val="5A5750"/>
              </a:buClr>
              <a:buSzPct val="70000"/>
              <a:buChar char="■"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Google Business Profile, Facebook and Instagram already in place</a:t>
            </a:r>
            <a:endParaRPr lang="en-CA" sz="14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5295748" cy="4206240"/>
          </a:xfrm>
          <a:prstGeom prst="rect">
            <a:avLst/>
          </a:prstGeom>
          <a:solidFill>
            <a:srgbClr val="FAEFEA"/>
          </a:solidFill>
          <a:ln w="9525">
            <a:solidFill>
              <a:srgbClr val="E4DF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0148" y="1783080"/>
            <a:ext cx="64008" cy="42062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/>
          <p:nvPr/>
        </p:nvSpPr>
        <p:spPr>
          <a:xfrm>
            <a:off x="6530188" y="2057400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opportunity</a:t>
            </a:r>
            <a:endParaRPr lang="en-CA" sz="1700" dirty="0"/>
          </a:p>
        </p:txBody>
      </p:sp>
      <p:sp>
        <p:nvSpPr>
          <p:cNvPr id="15" name="Text 13"/>
          <p:cNvSpPr/>
          <p:nvPr/>
        </p:nvSpPr>
        <p:spPr>
          <a:xfrm>
            <a:off x="6530188" y="2651760"/>
            <a:ext cx="465566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0000"/>
              </a:lnSpc>
              <a:buClr>
                <a:srgbClr val="D97757"/>
              </a:buClr>
              <a:buSzPct val="70000"/>
              <a:buChar char="■"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existing Google Maps and referral visitors into calls and quote requests</a:t>
            </a:r>
            <a:endParaRPr lang="en-CA" sz="1400" dirty="0"/>
          </a:p>
          <a:p>
            <a:pPr marL="254000" indent="-254000">
              <a:lnSpc>
                <a:spcPct val="110000"/>
              </a:lnSpc>
              <a:spcBef>
                <a:spcPts val="1600"/>
              </a:spcBef>
              <a:buClr>
                <a:srgbClr val="D97757"/>
              </a:buClr>
              <a:buSzPct val="70000"/>
              <a:buChar char="■"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 licensed electricians, fast response and transparent estimates front and centre</a:t>
            </a:r>
            <a:endParaRPr lang="en-CA" sz="1400" dirty="0"/>
          </a:p>
          <a:p>
            <a:pPr marL="254000" indent="-254000">
              <a:lnSpc>
                <a:spcPct val="110000"/>
              </a:lnSpc>
              <a:spcBef>
                <a:spcPts val="1600"/>
              </a:spcBef>
              <a:buClr>
                <a:srgbClr val="D97757"/>
              </a:buClr>
              <a:buSzPct val="70000"/>
              <a:buChar char="■"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panel upgrades, EV chargers, emergency service and commercial work their own spotlight</a:t>
            </a:r>
            <a:endParaRPr lang="en-CA" sz="1400" dirty="0"/>
          </a:p>
          <a:p>
            <a:pPr marL="254000" indent="-254000">
              <a:lnSpc>
                <a:spcPct val="110000"/>
              </a:lnSpc>
              <a:spcBef>
                <a:spcPts val="1600"/>
              </a:spcBef>
              <a:buClr>
                <a:srgbClr val="D97757"/>
              </a:buClr>
              <a:buSzPct val="70000"/>
              <a:buChar char="■"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Northline as professionally as the work it delivers</a:t>
            </a:r>
            <a:endParaRPr lang="en-CA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4876678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D&amp;M Digital Partners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Northline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/ 10</a:t>
            </a:r>
            <a:endParaRPr lang="en-CA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STRATEGY FOR NORTHLINE</a:t>
            </a:r>
            <a:endParaRPr lang="en-CA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768096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2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Four goals for the new website</a:t>
            </a:r>
            <a:endParaRPr lang="en-CA" sz="2800" dirty="0"/>
          </a:p>
        </p:txBody>
      </p:sp>
      <p:sp>
        <p:nvSpPr>
          <p:cNvPr id="8" name="Shape 6"/>
          <p:cNvSpPr/>
          <p:nvPr/>
        </p:nvSpPr>
        <p:spPr>
          <a:xfrm>
            <a:off x="685800" y="1426464"/>
            <a:ext cx="6400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965960"/>
            <a:ext cx="529574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258568"/>
            <a:ext cx="475488" cy="47548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258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1</a:t>
            </a:r>
            <a:endParaRPr lang="en-CA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240280"/>
            <a:ext cx="40613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More qualified calls and quote requests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400"/>
              </a:spcBef>
              <a:buNone/>
            </a:pPr>
            <a:r>
              <a:rPr lang="en-CA" altLang="en-US" sz="14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Tap-to-call on every screen and a quote form that asks the right questions.</a:t>
            </a:r>
            <a:endParaRPr lang="en-CA" sz="1400" dirty="0"/>
          </a:p>
        </p:txBody>
      </p:sp>
      <p:sp>
        <p:nvSpPr>
          <p:cNvPr id="13" name="Shape 11"/>
          <p:cNvSpPr/>
          <p:nvPr/>
        </p:nvSpPr>
        <p:spPr>
          <a:xfrm>
            <a:off x="6210148" y="1965960"/>
            <a:ext cx="529574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84468" y="2258568"/>
            <a:ext cx="475488" cy="47548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3"/>
          <p:cNvSpPr/>
          <p:nvPr/>
        </p:nvSpPr>
        <p:spPr>
          <a:xfrm>
            <a:off x="6484468" y="2258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2</a:t>
            </a:r>
            <a:endParaRPr lang="en-CA" sz="1600" dirty="0"/>
          </a:p>
        </p:txBody>
      </p:sp>
      <p:sp>
        <p:nvSpPr>
          <p:cNvPr id="16" name="Text 14"/>
          <p:cNvSpPr/>
          <p:nvPr/>
        </p:nvSpPr>
        <p:spPr>
          <a:xfrm>
            <a:off x="7170268" y="2240280"/>
            <a:ext cx="40613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Stronger local Google visibility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400"/>
              </a:spcBef>
              <a:buNone/>
            </a:pPr>
            <a:r>
              <a:rPr lang="en-CA" altLang="en-US" sz="14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service and area pages and an optimized Google Business Profile, so you’re found across the GTA.</a:t>
            </a:r>
            <a:endParaRPr lang="en-CA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977640"/>
            <a:ext cx="529574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270248"/>
            <a:ext cx="475488" cy="47548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270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3</a:t>
            </a:r>
            <a:endParaRPr lang="en-CA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51960"/>
            <a:ext cx="40613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Trust at first glance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400"/>
              </a:spcBef>
              <a:buNone/>
            </a:pPr>
            <a:r>
              <a:rPr lang="en-CA" altLang="en-US" sz="14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licence number, reviews and transparent estimates, visible before anyone picks up the phone.</a:t>
            </a:r>
            <a:endParaRPr lang="en-CA" sz="1400" dirty="0"/>
          </a:p>
        </p:txBody>
      </p:sp>
      <p:sp>
        <p:nvSpPr>
          <p:cNvPr id="21" name="Shape 19"/>
          <p:cNvSpPr/>
          <p:nvPr/>
        </p:nvSpPr>
        <p:spPr>
          <a:xfrm>
            <a:off x="6210148" y="3977640"/>
            <a:ext cx="529574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84468" y="4270248"/>
            <a:ext cx="475488" cy="475488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3" name="Text 21"/>
          <p:cNvSpPr/>
          <p:nvPr/>
        </p:nvSpPr>
        <p:spPr>
          <a:xfrm>
            <a:off x="6484468" y="4270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4</a:t>
            </a:r>
            <a:endParaRPr lang="en-CA" sz="1600" dirty="0"/>
          </a:p>
        </p:txBody>
      </p:sp>
      <p:sp>
        <p:nvSpPr>
          <p:cNvPr id="24" name="Text 22"/>
          <p:cNvSpPr/>
          <p:nvPr/>
        </p:nvSpPr>
        <p:spPr>
          <a:xfrm>
            <a:off x="7170268" y="4251960"/>
            <a:ext cx="40613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site for homes and businesses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400"/>
              </a:spcBef>
              <a:buNone/>
            </a:pPr>
            <a:r>
              <a:rPr lang="en-CA" altLang="en-US" sz="14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paths for homeowners, and for general contractors and property managers.</a:t>
            </a:r>
            <a:endParaRPr lang="en-CA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6095848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D&amp;M Digital Partners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Northline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/ 10</a:t>
            </a:r>
            <a:endParaRPr lang="en-CA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502920"/>
            <a:ext cx="10820095" cy="5623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502920"/>
            <a:ext cx="82296" cy="56235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22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PACKAGE 1</a:t>
            </a:r>
            <a:endParaRPr lang="en-CA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11556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32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Foundation</a:t>
            </a:r>
            <a:endParaRPr lang="en-CA" sz="3200" dirty="0"/>
          </a:p>
        </p:txBody>
      </p:sp>
      <p:sp>
        <p:nvSpPr>
          <p:cNvPr id="10" name="Text 8"/>
          <p:cNvSpPr/>
          <p:nvPr/>
        </p:nvSpPr>
        <p:spPr>
          <a:xfrm>
            <a:off x="7315200" y="80467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40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CA$1,450</a:t>
            </a:r>
            <a:endParaRPr lang="en-CA" sz="4000" dirty="0"/>
          </a:p>
        </p:txBody>
      </p:sp>
      <p:sp>
        <p:nvSpPr>
          <p:cNvPr id="11" name="Text 9"/>
          <p:cNvSpPr/>
          <p:nvPr/>
        </p:nvSpPr>
        <p:spPr>
          <a:xfrm>
            <a:off x="7315200" y="1554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one-time · before HST, plus applicable tax</a:t>
            </a:r>
            <a:endParaRPr lang="en-CA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783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4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Single-page site</a:t>
            </a:r>
            <a:endParaRPr lang="en-CA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2404872"/>
            <a:ext cx="91440" cy="91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/>
          <p:nvPr/>
        </p:nvSpPr>
        <p:spPr>
          <a:xfrm>
            <a:off x="1353312" y="2331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 single-page design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Northline looks as professional online as its work on site.</a:t>
            </a:r>
            <a:endParaRPr lang="en-CA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404872"/>
            <a:ext cx="91440" cy="91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2331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Always-visible tap-to-call button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Someone with an electrical emergency reaches you in one tap.</a:t>
            </a:r>
            <a:endParaRPr lang="en-CA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3392424"/>
            <a:ext cx="91440" cy="91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8" name="Text 16"/>
          <p:cNvSpPr/>
          <p:nvPr/>
        </p:nvSpPr>
        <p:spPr>
          <a:xfrm>
            <a:off x="1353312" y="33192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 services overview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Residential, commercial, panel upgrades, EV chargers and emergency service at a glance.</a:t>
            </a:r>
            <a:endParaRPr lang="en-CA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3392424"/>
            <a:ext cx="91440" cy="91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33192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Credentials section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ECRA/ESA licence number and licensed electricians up front, meeting ESA’s website requirement.</a:t>
            </a:r>
            <a:endParaRPr lang="en-CA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4379976"/>
            <a:ext cx="91440" cy="91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2" name="Text 20"/>
          <p:cNvSpPr/>
          <p:nvPr/>
        </p:nvSpPr>
        <p:spPr>
          <a:xfrm>
            <a:off x="1353312" y="430682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Quote request form to your inbox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After-hours inquiries are captured instead of lost.</a:t>
            </a:r>
            <a:endParaRPr lang="en-CA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4379976"/>
            <a:ext cx="91440" cy="91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4" name="Text 22"/>
          <p:cNvSpPr/>
          <p:nvPr/>
        </p:nvSpPr>
        <p:spPr>
          <a:xfrm>
            <a:off x="6519672" y="430682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Service area and Google reviews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Visitors see you cover their community, and that customers vouch for you.</a:t>
            </a:r>
            <a:endParaRPr lang="en-CA" sz="1400" dirty="0"/>
          </a:p>
        </p:txBody>
      </p:sp>
      <p:sp>
        <p:nvSpPr>
          <p:cNvPr id="25" name="Shape 23"/>
          <p:cNvSpPr/>
          <p:nvPr/>
        </p:nvSpPr>
        <p:spPr>
          <a:xfrm>
            <a:off x="1097280" y="5193792"/>
            <a:ext cx="10058400" cy="9144"/>
          </a:xfrm>
          <a:prstGeom prst="rect">
            <a:avLst/>
          </a:prstGeom>
          <a:solidFill>
            <a:srgbClr val="E4DFD5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52852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Support: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month free, then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CA$89/month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Covers hosting, security updates, daily backups, uptime monitoring and small text updates.</a:t>
            </a:r>
            <a:endParaRPr lang="en-CA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7315017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D&amp;M Digital Partners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Northline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/ 10</a:t>
            </a:r>
            <a:endParaRPr lang="en-CA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502920"/>
            <a:ext cx="10820095" cy="56235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502920"/>
            <a:ext cx="82296" cy="56235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22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PACKAGE 2</a:t>
            </a:r>
            <a:endParaRPr lang="en-CA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8229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822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CA" altLang="en-US" sz="1000" b="1" spc="100" kern="0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RECOMMENDED</a:t>
            </a:r>
            <a:endParaRPr lang="en-CA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111556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32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Growth</a:t>
            </a:r>
            <a:endParaRPr lang="en-CA" sz="3200" dirty="0"/>
          </a:p>
        </p:txBody>
      </p:sp>
      <p:sp>
        <p:nvSpPr>
          <p:cNvPr id="12" name="Text 10"/>
          <p:cNvSpPr/>
          <p:nvPr/>
        </p:nvSpPr>
        <p:spPr>
          <a:xfrm>
            <a:off x="7315200" y="80467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40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CA$2,650</a:t>
            </a:r>
            <a:endParaRPr lang="en-CA" sz="4000" dirty="0"/>
          </a:p>
        </p:txBody>
      </p:sp>
      <p:sp>
        <p:nvSpPr>
          <p:cNvPr id="13" name="Text 11"/>
          <p:cNvSpPr/>
          <p:nvPr/>
        </p:nvSpPr>
        <p:spPr>
          <a:xfrm>
            <a:off x="7315200" y="1554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one-time · before HST, plus applicable tax</a:t>
            </a:r>
            <a:endParaRPr lang="en-CA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1783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4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Multi-page site, up to 10 pages · everything in Foundation, plus:</a:t>
            </a:r>
            <a:endParaRPr lang="en-CA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solidFill>
            <a:srgbClr val="F7E6DD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21945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Growth fits Northline: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service gets its own page and every inquiry is qualified, with no ad spend needed yet.</a:t>
            </a:r>
            <a:endParaRPr lang="en-CA" sz="1300" dirty="0"/>
          </a:p>
        </p:txBody>
      </p:sp>
      <p:sp>
        <p:nvSpPr>
          <p:cNvPr id="17" name="Shape 15"/>
          <p:cNvSpPr/>
          <p:nvPr/>
        </p:nvSpPr>
        <p:spPr>
          <a:xfrm>
            <a:off x="1097280" y="2889504"/>
            <a:ext cx="91440" cy="91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8" name="Text 16"/>
          <p:cNvSpPr/>
          <p:nvPr/>
        </p:nvSpPr>
        <p:spPr>
          <a:xfrm>
            <a:off x="1353312" y="281635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page for every service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service speaks to its own customer and can rank for its own searches.</a:t>
            </a:r>
            <a:endParaRPr lang="en-CA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2889504"/>
            <a:ext cx="91440" cy="91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281635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 quote form with a commercial path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type, urgency and photos for faster estimates, plus a direct route for general contractors.</a:t>
            </a:r>
            <a:endParaRPr lang="en-CA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3712464"/>
            <a:ext cx="91440" cy="91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2" name="Text 20"/>
          <p:cNvSpPr/>
          <p:nvPr/>
        </p:nvSpPr>
        <p:spPr>
          <a:xfrm>
            <a:off x="1353312" y="363931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gallery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Before-and-after photos make the quality of your workmanship visible.</a:t>
            </a:r>
            <a:endParaRPr lang="en-CA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3712464"/>
            <a:ext cx="91440" cy="91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4" name="Text 22"/>
          <p:cNvSpPr/>
          <p:nvPr/>
        </p:nvSpPr>
        <p:spPr>
          <a:xfrm>
            <a:off x="6519672" y="363931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Permits and ESA inspections FAQ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homeowners’ biggest worries and gives search engines and AI tools clear answers.</a:t>
            </a:r>
            <a:endParaRPr lang="en-CA" sz="1400" dirty="0"/>
          </a:p>
        </p:txBody>
      </p:sp>
      <p:sp>
        <p:nvSpPr>
          <p:cNvPr id="25" name="Shape 23"/>
          <p:cNvSpPr/>
          <p:nvPr/>
        </p:nvSpPr>
        <p:spPr>
          <a:xfrm>
            <a:off x="1097280" y="4535424"/>
            <a:ext cx="91440" cy="91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6" name="Text 24"/>
          <p:cNvSpPr/>
          <p:nvPr/>
        </p:nvSpPr>
        <p:spPr>
          <a:xfrm>
            <a:off x="1353312" y="44622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Google Business Profile optimization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Categories, services and photos linked to matching pages, for stronger Maps visibility.</a:t>
            </a:r>
            <a:endParaRPr lang="en-CA" sz="1400" dirty="0"/>
          </a:p>
        </p:txBody>
      </p:sp>
      <p:sp>
        <p:nvSpPr>
          <p:cNvPr id="27" name="Shape 25"/>
          <p:cNvSpPr/>
          <p:nvPr/>
        </p:nvSpPr>
        <p:spPr>
          <a:xfrm>
            <a:off x="6263640" y="4535424"/>
            <a:ext cx="91440" cy="91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8" name="Text 26"/>
          <p:cNvSpPr/>
          <p:nvPr/>
        </p:nvSpPr>
        <p:spPr>
          <a:xfrm>
            <a:off x="6519672" y="44622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Call and form tracking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monthly lead report shows which pages bring in calls and quote requests.</a:t>
            </a:r>
            <a:endParaRPr lang="en-CA" sz="1400" dirty="0"/>
          </a:p>
        </p:txBody>
      </p:sp>
      <p:sp>
        <p:nvSpPr>
          <p:cNvPr id="29" name="Shape 27"/>
          <p:cNvSpPr/>
          <p:nvPr/>
        </p:nvSpPr>
        <p:spPr>
          <a:xfrm>
            <a:off x="1097280" y="5349240"/>
            <a:ext cx="10058400" cy="9144"/>
          </a:xfrm>
          <a:prstGeom prst="rect">
            <a:avLst/>
          </a:prstGeom>
          <a:solidFill>
            <a:srgbClr val="E4DFD5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5440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Support: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month free, then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CA$149/month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Everything in Foundation’s support, plus occasional content updates and the monthly lead report.</a:t>
            </a:r>
            <a:endParaRPr lang="en-CA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8534187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D&amp;M Digital Partners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Northline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 / 10</a:t>
            </a:r>
            <a:endParaRPr lang="en-CA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502920"/>
            <a:ext cx="10820095" cy="5623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502920"/>
            <a:ext cx="82296" cy="562356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22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PACKAGE 3</a:t>
            </a:r>
            <a:endParaRPr lang="en-CA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11556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32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Dominance</a:t>
            </a:r>
            <a:endParaRPr lang="en-CA" sz="3200" dirty="0"/>
          </a:p>
        </p:txBody>
      </p:sp>
      <p:sp>
        <p:nvSpPr>
          <p:cNvPr id="10" name="Text 8"/>
          <p:cNvSpPr/>
          <p:nvPr/>
        </p:nvSpPr>
        <p:spPr>
          <a:xfrm>
            <a:off x="7315200" y="80467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40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CA$4,850</a:t>
            </a:r>
            <a:endParaRPr lang="en-CA" sz="4000" dirty="0"/>
          </a:p>
        </p:txBody>
      </p:sp>
      <p:sp>
        <p:nvSpPr>
          <p:cNvPr id="11" name="Text 9"/>
          <p:cNvSpPr/>
          <p:nvPr/>
        </p:nvSpPr>
        <p:spPr>
          <a:xfrm>
            <a:off x="7315200" y="1554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one-time · before HST, plus applicable tax</a:t>
            </a:r>
            <a:endParaRPr lang="en-CA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783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4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Multi-page site, up to 15 pages, plus Google Ads and local SEO · everything in Growth, plus:</a:t>
            </a:r>
            <a:endParaRPr lang="en-CA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2404872"/>
            <a:ext cx="91440" cy="91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/>
          <p:nvPr/>
        </p:nvSpPr>
        <p:spPr>
          <a:xfrm>
            <a:off x="1353312" y="2331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Google search ads with call buttons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ready to hire can call you straight from Google.</a:t>
            </a:r>
            <a:endParaRPr lang="en-CA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404872"/>
            <a:ext cx="91440" cy="91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2331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Ongoing ad management and tracking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adjustments, with every dollar tied to real calls and inquiries.</a:t>
            </a:r>
            <a:endParaRPr lang="en-CA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3392424"/>
            <a:ext cx="91440" cy="91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8" name="Text 16"/>
          <p:cNvSpPr/>
          <p:nvPr/>
        </p:nvSpPr>
        <p:spPr>
          <a:xfrm>
            <a:off x="1353312" y="33192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dedicated ad landing pages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so paid clicks turn into calls, for example for emergency service and EV chargers.</a:t>
            </a:r>
            <a:endParaRPr lang="en-CA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3392424"/>
            <a:ext cx="91440" cy="91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33192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GTA community pages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found in each community you want more work from.</a:t>
            </a:r>
            <a:endParaRPr lang="en-CA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4379976"/>
            <a:ext cx="91440" cy="91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2" name="Text 20"/>
          <p:cNvSpPr/>
          <p:nvPr/>
        </p:nvSpPr>
        <p:spPr>
          <a:xfrm>
            <a:off x="1353312" y="430682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Local SEO and Canadian directory listings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listings and monthly SEO work strengthen your Google Maps position.</a:t>
            </a:r>
            <a:endParaRPr lang="en-CA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4379976"/>
            <a:ext cx="91440" cy="91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4" name="Text 22"/>
          <p:cNvSpPr/>
          <p:nvPr/>
        </p:nvSpPr>
        <p:spPr>
          <a:xfrm>
            <a:off x="6519672" y="430682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local guides a month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2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Helpful articles like “Do I need an ESA permit for a panel upgrade?” keep bringing in search traffic.</a:t>
            </a:r>
            <a:endParaRPr lang="en-CA" sz="1400" dirty="0"/>
          </a:p>
        </p:txBody>
      </p:sp>
      <p:sp>
        <p:nvSpPr>
          <p:cNvPr id="25" name="Shape 23"/>
          <p:cNvSpPr/>
          <p:nvPr/>
        </p:nvSpPr>
        <p:spPr>
          <a:xfrm>
            <a:off x="1097280" y="5193792"/>
            <a:ext cx="10058400" cy="9144"/>
          </a:xfrm>
          <a:prstGeom prst="rect">
            <a:avLst/>
          </a:prstGeom>
          <a:solidFill>
            <a:srgbClr val="E4DFD5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52852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Support: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month free, then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CA$1,190/month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Covers hosting and maintenance, content updates, Google Ads management and ongoing local SEO.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 spend is billed separately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paid directly to Google.</a:t>
            </a:r>
            <a:endParaRPr lang="en-CA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9753356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D&amp;M Digital Partners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Northline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 / 10</a:t>
            </a:r>
            <a:endParaRPr lang="en-CA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COMPARE PACKAGES</a:t>
            </a:r>
            <a:endParaRPr lang="en-CA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768096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2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Side by side</a:t>
            </a:r>
            <a:endParaRPr lang="en-CA" sz="2800" dirty="0"/>
          </a:p>
        </p:txBody>
      </p:sp>
      <p:sp>
        <p:nvSpPr>
          <p:cNvPr id="8" name="Shape 6"/>
          <p:cNvSpPr/>
          <p:nvPr/>
        </p:nvSpPr>
        <p:spPr>
          <a:xfrm>
            <a:off x="685800" y="1426464"/>
            <a:ext cx="6400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691640"/>
            <a:ext cx="1082009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64424" y="1691640"/>
            <a:ext cx="1764792" cy="7772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6199632" y="1691640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Foundation</a:t>
            </a:r>
            <a:endParaRPr lang="en-CA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page</a:t>
            </a:r>
            <a:endParaRPr lang="en-CA" sz="1400" dirty="0"/>
          </a:p>
        </p:txBody>
      </p:sp>
      <p:sp>
        <p:nvSpPr>
          <p:cNvPr id="12" name="Text 10"/>
          <p:cNvSpPr/>
          <p:nvPr/>
        </p:nvSpPr>
        <p:spPr>
          <a:xfrm>
            <a:off x="7964424" y="1691640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Growth</a:t>
            </a:r>
            <a:endParaRPr lang="en-CA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CA" altLang="en-US" sz="10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to 10 pages</a:t>
            </a:r>
            <a:endParaRPr lang="en-CA" sz="1400" dirty="0"/>
          </a:p>
          <a:p>
            <a:pPr algn="ctr" indent="0" marL="0">
              <a:lnSpc>
                <a:spcPct val="105000"/>
              </a:lnSpc>
              <a:spcBef>
                <a:spcPts val="300"/>
              </a:spcBef>
              <a:buNone/>
            </a:pPr>
            <a:r>
              <a:rPr lang="en-CA" altLang="en-US" sz="1000" b="1" spc="100" kern="0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RECOMMENDED</a:t>
            </a:r>
            <a:endParaRPr lang="en-CA" sz="1400" dirty="0"/>
          </a:p>
        </p:txBody>
      </p:sp>
      <p:sp>
        <p:nvSpPr>
          <p:cNvPr id="13" name="Text 11"/>
          <p:cNvSpPr/>
          <p:nvPr/>
        </p:nvSpPr>
        <p:spPr>
          <a:xfrm>
            <a:off x="9729216" y="1691640"/>
            <a:ext cx="17766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CA" altLang="en-US" sz="15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Dominance</a:t>
            </a:r>
            <a:endParaRPr lang="en-CA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to 15 pages</a:t>
            </a:r>
            <a:endParaRPr lang="en-CA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468880"/>
          <a:ext cx="10820095" cy="914400"/>
        </p:xfrm>
        <a:graphic>
          <a:graphicData uri="http://schemas.openxmlformats.org/drawingml/2006/table">
            <a:tbl>
              <a:tblPr/>
              <a:tblGrid>
                <a:gridCol w="5513832"/>
                <a:gridCol w="1764792"/>
                <a:gridCol w="1764792"/>
                <a:gridCol w="1776679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Mobile-first design, tap-to-call, quote form and credentials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Dedicated service pages, project gallery and permits FAQ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5A575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Smart quote form with a commercial inquiry path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5A575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Google Business Profile optimization and lead tracking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5A575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Google search ads, landing pages and ongoing management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5A575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5A575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GTA community pages, directory listings and two guides a month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5A575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300" dirty="0">
                          <a:solidFill>
                            <a:srgbClr val="5A575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CA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CA" altLang="en-US" sz="13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One-time investment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14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dirty="0">
                          <a:solidFill>
                            <a:srgbClr val="141413"/>
                          </a:solidFill>
                          <a:latin typeface="Manrope ExtraBold" pitchFamily="34" charset="0"/>
                          <a:ea typeface="Manrope ExtraBold" pitchFamily="34" charset="-122"/>
                          <a:cs typeface="Manrope ExtraBold" pitchFamily="34" charset="-120"/>
                        </a:rPr>
                        <a:t>CA$1,450</a:t>
                      </a:r>
                      <a:endParaRPr lang="en-CA" sz="1500" dirty="0">
                        <a:latin typeface="Manrope ExtraBold" charset="0"/>
                        <a:ea typeface="Manrope ExtraBold" charset="0"/>
                        <a:cs typeface="Manrope ExtraBold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14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dirty="0">
                          <a:solidFill>
                            <a:srgbClr val="141413"/>
                          </a:solidFill>
                          <a:latin typeface="Manrope ExtraBold" pitchFamily="34" charset="0"/>
                          <a:ea typeface="Manrope ExtraBold" pitchFamily="34" charset="-122"/>
                          <a:cs typeface="Manrope ExtraBold" pitchFamily="34" charset="-120"/>
                        </a:rPr>
                        <a:t>CA$2,650</a:t>
                      </a:r>
                      <a:endParaRPr lang="en-CA" sz="1500" dirty="0">
                        <a:latin typeface="Manrope ExtraBold" charset="0"/>
                        <a:ea typeface="Manrope ExtraBold" charset="0"/>
                        <a:cs typeface="Manrope ExtraBold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14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dirty="0">
                          <a:solidFill>
                            <a:srgbClr val="141413"/>
                          </a:solidFill>
                          <a:latin typeface="Manrope ExtraBold" pitchFamily="34" charset="0"/>
                          <a:ea typeface="Manrope ExtraBold" pitchFamily="34" charset="-122"/>
                          <a:cs typeface="Manrope ExtraBold" pitchFamily="34" charset="-120"/>
                        </a:rPr>
                        <a:t>CA$4,850</a:t>
                      </a:r>
                      <a:endParaRPr lang="en-CA" sz="1500" dirty="0">
                        <a:latin typeface="Manrope ExtraBold" charset="0"/>
                        <a:ea typeface="Manrope ExtraBold" charset="0"/>
                        <a:cs typeface="Manrope ExtraBold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414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CA" altLang="en-US" sz="1300" b="1" dirty="0">
                          <a:solidFill>
                            <a:srgbClr val="14141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Monthly support (first month free)</a:t>
                      </a:r>
                      <a:endParaRPr lang="en-CA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dirty="0">
                          <a:solidFill>
                            <a:srgbClr val="141413"/>
                          </a:solidFill>
                          <a:latin typeface="Manrope ExtraBold" pitchFamily="34" charset="0"/>
                          <a:ea typeface="Manrope ExtraBold" pitchFamily="34" charset="-122"/>
                          <a:cs typeface="Manrope ExtraBold" pitchFamily="34" charset="-120"/>
                        </a:rPr>
                        <a:t>CA$89</a:t>
                      </a:r>
                      <a:endParaRPr lang="en-CA" sz="1500" dirty="0">
                        <a:latin typeface="Manrope ExtraBold" charset="0"/>
                        <a:ea typeface="Manrope ExtraBold" charset="0"/>
                        <a:cs typeface="Manrope ExtraBold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dirty="0">
                          <a:solidFill>
                            <a:srgbClr val="141413"/>
                          </a:solidFill>
                          <a:latin typeface="Manrope ExtraBold" pitchFamily="34" charset="0"/>
                          <a:ea typeface="Manrope ExtraBold" pitchFamily="34" charset="-122"/>
                          <a:cs typeface="Manrope ExtraBold" pitchFamily="34" charset="-120"/>
                        </a:rPr>
                        <a:t>CA$149</a:t>
                      </a:r>
                      <a:endParaRPr lang="en-CA" sz="1500" dirty="0">
                        <a:latin typeface="Manrope ExtraBold" charset="0"/>
                        <a:ea typeface="Manrope ExtraBold" charset="0"/>
                        <a:cs typeface="Manrope ExtraBold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CA" altLang="en-US" sz="1500" dirty="0">
                          <a:solidFill>
                            <a:srgbClr val="141413"/>
                          </a:solidFill>
                          <a:latin typeface="Manrope ExtraBold" pitchFamily="34" charset="0"/>
                          <a:ea typeface="Manrope ExtraBold" pitchFamily="34" charset="-122"/>
                          <a:cs typeface="Manrope ExtraBold" pitchFamily="34" charset="-120"/>
                        </a:rPr>
                        <a:t>CA$1,190*</a:t>
                      </a:r>
                      <a:endParaRPr lang="en-CA" sz="1500" dirty="0">
                        <a:latin typeface="Manrope ExtraBold" charset="0"/>
                        <a:ea typeface="Manrope ExtraBold" charset="0"/>
                        <a:cs typeface="Manrope ExtraBold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85800" y="1691640"/>
            <a:ext cx="10820095" cy="3666744"/>
          </a:xfrm>
          <a:prstGeom prst="rect">
            <a:avLst/>
          </a:prstGeom>
          <a:solidFill>
            <a:srgbClr val="F7F5F0">
              <a:alpha val="0"/>
            </a:srgbClr>
          </a:solidFill>
          <a:ln w="9525">
            <a:solidFill>
              <a:srgbClr val="E4DFD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5431536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Includes Google Ads management and local SEO; ad spend is billed separately. All prices in Canadian dollars, before HST, plus applicable tax.</a:t>
            </a:r>
            <a:endParaRPr lang="en-CA" sz="1000" dirty="0"/>
          </a:p>
        </p:txBody>
      </p:sp>
      <p:sp>
        <p:nvSpPr>
          <p:cNvPr id="17" name="Shape 14"/>
          <p:cNvSpPr/>
          <p:nvPr/>
        </p:nvSpPr>
        <p:spPr>
          <a:xfrm>
            <a:off x="685800" y="5705856"/>
            <a:ext cx="10820095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" y="5705856"/>
            <a:ext cx="64008" cy="40233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5705856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4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package: </a:t>
            </a:r>
            <a:pPr indent="0" marL="0">
              <a:lnSpc>
                <a:spcPct val="110000"/>
              </a:lnSpc>
              <a:buNone/>
            </a:pPr>
            <a:r>
              <a:rPr lang="en-CA" altLang="en-US" sz="14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 base, then add or remove services. Price on request.</a:t>
            </a:r>
            <a:endParaRPr lang="en-CA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0972526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D&amp;M Digital Partners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Northline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 / 10</a:t>
            </a:r>
            <a:endParaRPr lang="en-CA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EXPECTED RETURN</a:t>
            </a:r>
            <a:endParaRPr lang="en-CA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768096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2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How quickly the investment can pay back</a:t>
            </a:r>
            <a:endParaRPr lang="en-CA" sz="2800" dirty="0"/>
          </a:p>
        </p:txBody>
      </p:sp>
      <p:sp>
        <p:nvSpPr>
          <p:cNvPr id="8" name="Shape 6"/>
          <p:cNvSpPr/>
          <p:nvPr/>
        </p:nvSpPr>
        <p:spPr>
          <a:xfrm>
            <a:off x="685800" y="1426464"/>
            <a:ext cx="6400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783080"/>
            <a:ext cx="30175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9019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2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25–40</a:t>
            </a:r>
            <a:endParaRPr lang="en-CA" sz="2800" dirty="0"/>
          </a:p>
        </p:txBody>
      </p:sp>
      <p:sp>
        <p:nvSpPr>
          <p:cNvPr id="11" name="Text 9"/>
          <p:cNvSpPr/>
          <p:nvPr/>
        </p:nvSpPr>
        <p:spPr>
          <a:xfrm>
            <a:off x="96012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inquiries a month today</a:t>
            </a:r>
            <a:endParaRPr lang="en-CA" sz="1300" dirty="0"/>
          </a:p>
        </p:txBody>
      </p:sp>
      <p:sp>
        <p:nvSpPr>
          <p:cNvPr id="12" name="Shape 10"/>
          <p:cNvSpPr/>
          <p:nvPr/>
        </p:nvSpPr>
        <p:spPr>
          <a:xfrm>
            <a:off x="3931920" y="1783080"/>
            <a:ext cx="30175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9019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2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10–18</a:t>
            </a:r>
            <a:endParaRPr lang="en-CA" sz="2800" dirty="0"/>
          </a:p>
        </p:txBody>
      </p:sp>
      <p:sp>
        <p:nvSpPr>
          <p:cNvPr id="14" name="Text 12"/>
          <p:cNvSpPr/>
          <p:nvPr/>
        </p:nvSpPr>
        <p:spPr>
          <a:xfrm>
            <a:off x="420624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customers a month</a:t>
            </a:r>
            <a:endParaRPr lang="en-CA" sz="1300" dirty="0"/>
          </a:p>
        </p:txBody>
      </p:sp>
      <p:sp>
        <p:nvSpPr>
          <p:cNvPr id="15" name="Shape 13"/>
          <p:cNvSpPr/>
          <p:nvPr/>
        </p:nvSpPr>
        <p:spPr>
          <a:xfrm>
            <a:off x="7178040" y="1783080"/>
            <a:ext cx="4327855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1901952"/>
            <a:ext cx="3779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2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CA$500–CA$2,500</a:t>
            </a:r>
            <a:endParaRPr lang="en-CA" sz="2800" dirty="0"/>
          </a:p>
        </p:txBody>
      </p:sp>
      <p:sp>
        <p:nvSpPr>
          <p:cNvPr id="17" name="Text 15"/>
          <p:cNvSpPr/>
          <p:nvPr/>
        </p:nvSpPr>
        <p:spPr>
          <a:xfrm>
            <a:off x="7452360" y="2468880"/>
            <a:ext cx="3779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of one new customer; more for large commercial projects</a:t>
            </a:r>
            <a:endParaRPr lang="en-CA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035808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figures Northline shared with us.</a:t>
            </a:r>
            <a:endParaRPr lang="en-CA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383280"/>
            <a:ext cx="10820095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57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60120" y="358444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584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CA" altLang="en-US" sz="1000" b="1" spc="100" kern="0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EXAMPLE</a:t>
            </a:r>
            <a:endParaRPr lang="en-CA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3931920"/>
            <a:ext cx="1027145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Growth website brings 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extra customers a month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 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CA$500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each, the low end of your range, that’s 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CA$1,000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added revenue every month. At that pace, the 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CA$2,650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build is covered in 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3 months</a:t>
            </a:r>
            <a:pPr indent="0" marL="0">
              <a:lnSpc>
                <a:spcPct val="120000"/>
              </a:lnSpc>
              <a:buNone/>
            </a:pPr>
            <a:r>
              <a:rPr lang="en-CA" alt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CA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4919472"/>
            <a:ext cx="102714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Assumptions: 2 extra customers a month · CA$500 per customer · revenue before job costs · build cost only (CA$2,650 ÷ CA$1,000 = 2.65 months).</a:t>
            </a:r>
            <a:endParaRPr lang="en-CA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537667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3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comparison: </a:t>
            </a:r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ads for electricians average $12.18 USD per click. A website that converts makes every click count, paid or free.</a:t>
            </a:r>
            <a:endParaRPr lang="en-CA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585216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LocaliQ, 2026 · US data, April 2024–March 2025</a:t>
            </a:r>
            <a:endParaRPr lang="en-CA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9144"/>
          </a:xfrm>
          <a:prstGeom prst="rect">
            <a:avLst/>
          </a:prstGeom>
          <a:solidFill>
            <a:srgbClr val="E4D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2191695" cy="3657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D&amp;M Digital Partners</a:t>
            </a:r>
            <a:pPr indent="0" marL="0">
              <a:lnSpc>
                <a:spcPct val="100000"/>
              </a:lnSpc>
              <a:buNone/>
            </a:pPr>
            <a:r>
              <a:rPr lang="en-CA" altLang="en-US" sz="10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Proposal for Northline Electrical Solutions</a:t>
            </a:r>
            <a:endParaRPr lang="en-CA" sz="10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CA" altLang="en-US" sz="10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/ 10</a:t>
            </a:r>
            <a:endParaRPr lang="en-CA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20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 STEPS</a:t>
            </a:r>
            <a:endParaRPr lang="en-CA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768096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CA" altLang="en-US" sz="2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Ready when you are</a:t>
            </a:r>
            <a:endParaRPr lang="en-CA" sz="2800" dirty="0"/>
          </a:p>
        </p:txBody>
      </p:sp>
      <p:sp>
        <p:nvSpPr>
          <p:cNvPr id="8" name="Shape 6"/>
          <p:cNvSpPr/>
          <p:nvPr/>
        </p:nvSpPr>
        <p:spPr>
          <a:xfrm>
            <a:off x="685800" y="1426464"/>
            <a:ext cx="6400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057400"/>
            <a:ext cx="2533574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240280"/>
            <a:ext cx="25335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15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CA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25335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Choose your package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3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Foundation, Growth, Dominance or a custom mix.</a:t>
            </a:r>
            <a:endParaRPr lang="en-CA" sz="1400" dirty="0"/>
          </a:p>
        </p:txBody>
      </p:sp>
      <p:sp>
        <p:nvSpPr>
          <p:cNvPr id="12" name="Shape 10"/>
          <p:cNvSpPr/>
          <p:nvPr/>
        </p:nvSpPr>
        <p:spPr>
          <a:xfrm>
            <a:off x="3447974" y="2057400"/>
            <a:ext cx="2533574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974" y="2240280"/>
            <a:ext cx="25335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15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CA" sz="1100" dirty="0"/>
          </a:p>
        </p:txBody>
      </p:sp>
      <p:sp>
        <p:nvSpPr>
          <p:cNvPr id="14" name="Text 12"/>
          <p:cNvSpPr/>
          <p:nvPr/>
        </p:nvSpPr>
        <p:spPr>
          <a:xfrm>
            <a:off x="3447974" y="2514600"/>
            <a:ext cx="25335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Deposit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3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Reserves your start date.</a:t>
            </a:r>
            <a:endParaRPr lang="en-CA" sz="1400" dirty="0"/>
          </a:p>
        </p:txBody>
      </p:sp>
      <p:sp>
        <p:nvSpPr>
          <p:cNvPr id="15" name="Shape 13"/>
          <p:cNvSpPr/>
          <p:nvPr/>
        </p:nvSpPr>
        <p:spPr>
          <a:xfrm>
            <a:off x="6210148" y="2057400"/>
            <a:ext cx="2533574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6210148" y="2240280"/>
            <a:ext cx="25335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15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CA" sz="1100" dirty="0"/>
          </a:p>
        </p:txBody>
      </p:sp>
      <p:sp>
        <p:nvSpPr>
          <p:cNvPr id="17" name="Text 15"/>
          <p:cNvSpPr/>
          <p:nvPr/>
        </p:nvSpPr>
        <p:spPr>
          <a:xfrm>
            <a:off x="6210148" y="2514600"/>
            <a:ext cx="25335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Kickoff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3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gather your content, photos and licence details.</a:t>
            </a:r>
            <a:endParaRPr lang="en-CA" sz="1400" dirty="0"/>
          </a:p>
        </p:txBody>
      </p:sp>
      <p:sp>
        <p:nvSpPr>
          <p:cNvPr id="18" name="Shape 16"/>
          <p:cNvSpPr/>
          <p:nvPr/>
        </p:nvSpPr>
        <p:spPr>
          <a:xfrm>
            <a:off x="8972321" y="2057400"/>
            <a:ext cx="2533574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9" name="Text 17"/>
          <p:cNvSpPr/>
          <p:nvPr/>
        </p:nvSpPr>
        <p:spPr>
          <a:xfrm>
            <a:off x="8972321" y="2240280"/>
            <a:ext cx="25335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100" b="1" spc="150" kern="0" dirty="0">
                <a:solidFill>
                  <a:srgbClr val="5A575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CA" sz="1100" dirty="0"/>
          </a:p>
        </p:txBody>
      </p:sp>
      <p:sp>
        <p:nvSpPr>
          <p:cNvPr id="20" name="Text 18"/>
          <p:cNvSpPr/>
          <p:nvPr/>
        </p:nvSpPr>
        <p:spPr>
          <a:xfrm>
            <a:off x="8972321" y="2514600"/>
            <a:ext cx="25335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7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Launch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300"/>
              </a:spcBef>
              <a:buNone/>
            </a:pPr>
            <a:r>
              <a:rPr lang="en-CA" altLang="en-US" sz="1300" dirty="0">
                <a:solidFill>
                  <a:srgbClr val="5A57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first month of support is free.</a:t>
            </a:r>
            <a:endParaRPr lang="en-CA" sz="1400" dirty="0"/>
          </a:p>
        </p:txBody>
      </p:sp>
      <p:pic>
        <p:nvPicPr>
          <p:cNvPr id="21" name="Image 0" descr="D&amp;M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343400"/>
            <a:ext cx="1098445" cy="10515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011680" y="434340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CA" altLang="en-US" sz="1800" dirty="0">
                <a:solidFill>
                  <a:srgbClr val="141413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D&amp;M Digital Partners</a:t>
            </a:r>
            <a:endParaRPr lang="en-CA" sz="1400" dirty="0"/>
          </a:p>
          <a:p>
            <a:pPr indent="0" marL="0">
              <a:lnSpc>
                <a:spcPct val="110000"/>
              </a:lnSpc>
              <a:spcBef>
                <a:spcPts val="400"/>
              </a:spcBef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hello@dmdigitalpartners.com</a:t>
            </a:r>
            <a:endParaRPr lang="en-CA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 (416) 555-0147</a:t>
            </a:r>
            <a:endParaRPr lang="en-CA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CA" altLang="en-US" sz="13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dmdigitalpartners.com</a:t>
            </a:r>
            <a:endParaRPr lang="en-CA" sz="1400" dirty="0"/>
          </a:p>
        </p:txBody>
      </p:sp>
      <p:sp>
        <p:nvSpPr>
          <p:cNvPr id="23" name="Shape 20"/>
          <p:cNvSpPr/>
          <p:nvPr/>
        </p:nvSpPr>
        <p:spPr>
          <a:xfrm>
            <a:off x="7406640" y="4617720"/>
            <a:ext cx="4096512" cy="56692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24" name="Text 21"/>
          <p:cNvSpPr/>
          <p:nvPr/>
        </p:nvSpPr>
        <p:spPr>
          <a:xfrm>
            <a:off x="7406640" y="4617720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CA" altLang="en-US" sz="1400" b="1" dirty="0">
                <a:solidFill>
                  <a:srgbClr val="14141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Choose your package and we’ll get started</a:t>
            </a:r>
            <a:endParaRPr lang="en-CA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D&amp;M Digital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Northline Electrical Solutions — Website Proposal</dc:title>
  <dc:subject>Website offer: three packages plus a custom option</dc:subject>
  <dc:creator>D&amp;M Digital Partners</dc:creator>
  <cp:lastModifiedBy>D&amp;M Digital Partners</cp:lastModifiedBy>
  <cp:revision>1</cp:revision>
  <dcterms:created xsi:type="dcterms:W3CDTF">2026-09-15T15:57:29Z</dcterms:created>
  <dcterms:modified xsi:type="dcterms:W3CDTF">2026-09-15T15:57:29Z</dcterms:modified>
</cp:coreProperties>
</file>