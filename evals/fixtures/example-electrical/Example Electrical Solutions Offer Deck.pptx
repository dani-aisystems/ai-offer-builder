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(research log):
1. ESA licence display rule — Electrical Safety Authority, n.d. — https://esasafe.com/contractors/display-your-licence/
2. 40 per cent never checked permits — ESA, published by TRREB, 2025 — https://trreb.ca/electrical-safety-a-smart-move-for-buyers-and-sellers
3. 97% read reviews; 54% then check the website — BrightLocal, 2026 (US data, 1,002 US adults) — https://www.brightlocal.com/research/local-consumer-review-survey/
4. AI tools for local recommendations 6% to 45% — BrightLocal, 2026 (US data) — https://www.brightlocal.com/research/local-consumer-review-survey/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Client-supplied: 25–40 inquiries and 10–18 new customers a month; CA$500–CA$2,500 per customer.
Example arithmetic: 2 × CA$500 = CA$1,000 a month; CA$2,650 ÷ CA$1,000 = 2.65 months (revenue before job costs, build cost only).
Source for the cost per click: LocaliQ Home Services Search Ads Benchmarks, 2026 (US data, Apr 2024–Mar 2025) — https://localiq.com/blog/home-services-search-advertising-benchmarks/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1219170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7086600" y="868680"/>
            <a:ext cx="4754880" cy="4754880"/>
          </a:xfrm>
          <a:prstGeom prst="ellipse">
            <a:avLst/>
          </a:prstGeom>
          <a:solidFill>
            <a:srgbClr val="F7F5F0">
              <a:alpha val="0"/>
            </a:srgbClr>
          </a:solidFill>
          <a:ln w="19050">
            <a:solidFill>
              <a:srgbClr val="E8B89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54112" y="1536192"/>
            <a:ext cx="3419856" cy="3419856"/>
          </a:xfrm>
          <a:prstGeom prst="ellipse">
            <a:avLst/>
          </a:prstGeom>
          <a:solidFill>
            <a:srgbClr val="F7F5F0">
              <a:alpha val="0"/>
            </a:srgbClr>
          </a:solidFill>
          <a:ln w="19050">
            <a:solidFill>
              <a:srgbClr val="E8B89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13064" y="2295144"/>
            <a:ext cx="1901952" cy="1901952"/>
          </a:xfrm>
          <a:prstGeom prst="ellipse">
            <a:avLst/>
          </a:prstGeom>
          <a:solidFill>
            <a:srgbClr val="F7F5F0">
              <a:alpha val="0"/>
            </a:srgbClr>
          </a:solidFill>
          <a:ln w="57150">
            <a:solidFill>
              <a:srgbClr val="D9775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2212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WEBSITE PROPOSAL</a:t>
            </a:r>
            <a:endParaRPr lang="en-CA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Example</a:t>
            </a:r>
            <a:endParaRPr lang="en-CA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Electrical</a:t>
            </a:r>
            <a:endParaRPr lang="en-CA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Solutions</a:t>
            </a:r>
            <a:endParaRPr lang="en-CA" sz="4400" dirty="0"/>
          </a:p>
        </p:txBody>
      </p:sp>
      <p:sp>
        <p:nvSpPr>
          <p:cNvPr id="12" name="Shape 9"/>
          <p:cNvSpPr/>
          <p:nvPr/>
        </p:nvSpPr>
        <p:spPr>
          <a:xfrm>
            <a:off x="685800" y="4754880"/>
            <a:ext cx="914400" cy="6400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5800" y="4937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8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website that turns GTA searches into qualified calls.</a:t>
            </a:r>
            <a:endParaRPr lang="en-CA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5394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September 15, 2026</a:t>
            </a:r>
            <a:endParaRPr lang="en-C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2438339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 NOW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Trust gets checked online before the phone rings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78308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78308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98424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Required</a:t>
            </a:r>
            <a:endParaRPr lang="en-CA" sz="3600" dirty="0"/>
          </a:p>
        </p:txBody>
      </p:sp>
      <p:sp>
        <p:nvSpPr>
          <p:cNvPr id="12" name="Text 10"/>
          <p:cNvSpPr/>
          <p:nvPr/>
        </p:nvSpPr>
        <p:spPr>
          <a:xfrm>
            <a:off x="960120" y="262432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Ontario’s Electrical Safety Authority says a licensed electrical contractor’s ECRA/ESA licence number must appear on its website, ads, invoices and business vehicles.</a:t>
            </a:r>
            <a:endParaRPr lang="en-CA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3872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Electrical Safety Authority (ESA), Ontario Regulation 570/05, n.d.</a:t>
            </a:r>
            <a:endParaRPr lang="en-CA" sz="1000" dirty="0"/>
          </a:p>
        </p:txBody>
      </p:sp>
      <p:sp>
        <p:nvSpPr>
          <p:cNvPr id="14" name="Shape 12"/>
          <p:cNvSpPr/>
          <p:nvPr/>
        </p:nvSpPr>
        <p:spPr>
          <a:xfrm>
            <a:off x="6210148" y="178308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0148" y="178308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84468" y="198424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40%</a:t>
            </a:r>
            <a:endParaRPr lang="en-CA" sz="3600" dirty="0"/>
          </a:p>
        </p:txBody>
      </p:sp>
      <p:sp>
        <p:nvSpPr>
          <p:cNvPr id="17" name="Text 15"/>
          <p:cNvSpPr/>
          <p:nvPr/>
        </p:nvSpPr>
        <p:spPr>
          <a:xfrm>
            <a:off x="6484468" y="262432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Ontario homeowners have never checked whether the required permits were obtained for electrical work in their home. A contractor who explains permits up front stands out.</a:t>
            </a:r>
            <a:endParaRPr lang="en-CA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353872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Electrical Safety Authority, via TRREB, 2025</a:t>
            </a:r>
            <a:endParaRPr lang="en-CA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02336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422452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97%</a:t>
            </a:r>
            <a:endParaRPr lang="en-CA" sz="3600" dirty="0"/>
          </a:p>
        </p:txBody>
      </p:sp>
      <p:sp>
        <p:nvSpPr>
          <p:cNvPr id="22" name="Text 20"/>
          <p:cNvSpPr/>
          <p:nvPr/>
        </p:nvSpPr>
        <p:spPr>
          <a:xfrm>
            <a:off x="960120" y="486460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consumers read reviews for local businesses, and 54% then go on to check the business’s website.</a:t>
            </a:r>
            <a:endParaRPr lang="en-CA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77900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BrightLocal, Local Consumer Review Survey, 2026</a:t>
            </a:r>
            <a:pPr indent="0" marL="0">
              <a:lnSpc>
                <a:spcPct val="11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US data</a:t>
            </a:r>
            <a:endParaRPr lang="en-CA" sz="1000" dirty="0"/>
          </a:p>
        </p:txBody>
      </p:sp>
      <p:sp>
        <p:nvSpPr>
          <p:cNvPr id="24" name="Shape 22"/>
          <p:cNvSpPr/>
          <p:nvPr/>
        </p:nvSpPr>
        <p:spPr>
          <a:xfrm>
            <a:off x="6210148" y="402336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10148" y="402336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84468" y="422452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6% → 45%</a:t>
            </a:r>
            <a:endParaRPr lang="en-CA" sz="3600" dirty="0"/>
          </a:p>
        </p:txBody>
      </p:sp>
      <p:sp>
        <p:nvSpPr>
          <p:cNvPr id="27" name="Text 25"/>
          <p:cNvSpPr/>
          <p:nvPr/>
        </p:nvSpPr>
        <p:spPr>
          <a:xfrm>
            <a:off x="6484468" y="486460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consumers used ChatGPT and other AI tools for local recommendations, in a single year. Clear service pages give these tools accurate answers to draw on.</a:t>
            </a:r>
            <a:endParaRPr lang="en-CA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577900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BrightLocal, Local Consumer Review Survey, 2026</a:t>
            </a:r>
            <a:pPr indent="0" marL="0">
              <a:lnSpc>
                <a:spcPct val="11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US data</a:t>
            </a:r>
            <a:endParaRPr lang="en-CA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3657509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ANALYSIS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A strong business behind an outdated website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783080"/>
            <a:ext cx="529574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</a:t>
            </a:r>
            <a:endParaRPr lang="en-CA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6556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basic, outdated website that generates very few qualified leads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Services, service area and credentials don’t come across clearly online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work comes from referrals, Google Maps, repeat customers, general contractors and phone calls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Google Business Profile, Facebook and Instagram already in place</a:t>
            </a:r>
            <a:endParaRPr lang="en-CA" sz="14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295748" cy="4206240"/>
          </a:xfrm>
          <a:prstGeom prst="rect">
            <a:avLst/>
          </a:prstGeom>
          <a:solidFill>
            <a:srgbClr val="FAEFEA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0148" y="1783080"/>
            <a:ext cx="64008" cy="42062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0188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opportunity</a:t>
            </a:r>
            <a:endParaRPr lang="en-CA" sz="1700" dirty="0"/>
          </a:p>
        </p:txBody>
      </p:sp>
      <p:sp>
        <p:nvSpPr>
          <p:cNvPr id="15" name="Text 13"/>
          <p:cNvSpPr/>
          <p:nvPr/>
        </p:nvSpPr>
        <p:spPr>
          <a:xfrm>
            <a:off x="6530188" y="2651760"/>
            <a:ext cx="46556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existing Google Maps and referral visitors into calls and quote requests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licensed electricians, fast response and transparent estimates front and centre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panel upgrades, EV chargers, emergency service and commercial work their own spotlight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Example Electrical as professionally as the work it delivers</a:t>
            </a:r>
            <a:endParaRPr lang="en-CA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4876678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 FOR EXAMPLE ELECTRICAL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Four goals for the new website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96596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225856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1</a:t>
            </a:r>
            <a:endParaRPr lang="en-CA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24028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More qualified calls and quote requests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Tap-to-call on every screen and a quote form that asks the right questions.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196596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84468" y="225856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84468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2</a:t>
            </a:r>
            <a:endParaRPr lang="en-CA" sz="1600" dirty="0"/>
          </a:p>
        </p:txBody>
      </p:sp>
      <p:sp>
        <p:nvSpPr>
          <p:cNvPr id="16" name="Text 14"/>
          <p:cNvSpPr/>
          <p:nvPr/>
        </p:nvSpPr>
        <p:spPr>
          <a:xfrm>
            <a:off x="7170268" y="224028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Stronger local Google visibility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service and area pages and an optimized Google Business Profile, so you’re found across the GTA.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0120" y="427024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3</a:t>
            </a:r>
            <a:endParaRPr lang="en-CA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5196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 at first glance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licence number, reviews and transparent estimates, visible before anyone picks up the phone.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6210148" y="397764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84468" y="427024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84468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4</a:t>
            </a:r>
            <a:endParaRPr lang="en-CA" sz="1600" dirty="0"/>
          </a:p>
        </p:txBody>
      </p:sp>
      <p:sp>
        <p:nvSpPr>
          <p:cNvPr id="24" name="Text 22"/>
          <p:cNvSpPr/>
          <p:nvPr/>
        </p:nvSpPr>
        <p:spPr>
          <a:xfrm>
            <a:off x="7170268" y="425196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site for homes and businesses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paths for homeowners, and for general contractors and property managers.</a:t>
            </a:r>
            <a:endParaRPr lang="en-C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6095848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1</a:t>
            </a:r>
            <a:endParaRPr lang="en-CA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Foundation</a:t>
            </a:r>
            <a:endParaRPr lang="en-CA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CA$1,450</a:t>
            </a:r>
            <a:endParaRPr lang="en-CA" sz="4000" dirty="0"/>
          </a:p>
        </p:txBody>
      </p:sp>
      <p:sp>
        <p:nvSpPr>
          <p:cNvPr id="11" name="Text 9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Single-page site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5331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single-page design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Electrical looks as professional online as its work on site.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1967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Always-visible tap-to-call button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with an electrical emergency reaches you in one tap.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5331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services overview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Residential, commercial, panel upgrades, EV chargers and emergency service at a glance.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1967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Credentials section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ECRA/ESA licence number and licensed electricians up front, meeting ESA’s website requirement.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5331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Quote request form to your inbox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After-hours inquiries are captured instead of lost.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1967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area and Google reviews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 see you cover their community, and that customers vouch for you.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5193792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CA$89/month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Covers hosting, security updates, daily backups, uptime monitoring and small text updates.</a:t>
            </a:r>
            <a:endParaRPr lang="en-CA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7315017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2</a:t>
            </a:r>
            <a:endParaRPr lang="en-CA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8229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331720" y="822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</a:t>
            </a:r>
            <a:endParaRPr lang="en-CA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Growth</a:t>
            </a:r>
            <a:endParaRPr lang="en-CA" sz="3200" dirty="0"/>
          </a:p>
        </p:txBody>
      </p:sp>
      <p:sp>
        <p:nvSpPr>
          <p:cNvPr id="12" name="Text 10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CA$2,650</a:t>
            </a:r>
            <a:endParaRPr lang="en-CA" sz="40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site, up to 10 pages · everything in Foundation, plus: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solidFill>
            <a:srgbClr val="F7E6D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2194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Growth fits Example Electrical: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service gets its own page and every inquiry is qualified, with no ad spend needed yet.</a:t>
            </a:r>
            <a:endParaRPr lang="en-CA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88950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53312" y="2816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page for every service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service speaks to its own customer and can rank for its own searches.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950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19672" y="2816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quote form with a commercial path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type, urgency and photos for faster estimates, plus a direct route for general contractors.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71246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53312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gallery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Before-and-after photos make the quality of your workmanship visible.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1246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19672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Permits and ESA inspections FAQ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homeowners’ biggest worries and gives search engines and AI tools clear answers.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4535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353312" y="4462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Business Profile optimization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Categories, services and photos linked to matching pages, for stronger Maps visibility.</a:t>
            </a:r>
            <a:endParaRPr lang="en-CA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535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19672" y="4462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and form tracking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monthly lead report shows which pages bring in calls and quote requests.</a:t>
            </a:r>
            <a:endParaRPr lang="en-CA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5349240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CA$149/month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Everything in Foundation’s support, plus occasional content updates and the monthly lead report.</a:t>
            </a:r>
            <a:endParaRPr lang="en-CA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8534187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3</a:t>
            </a:r>
            <a:endParaRPr lang="en-CA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Dominance</a:t>
            </a:r>
            <a:endParaRPr lang="en-CA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CA$4,850</a:t>
            </a:r>
            <a:endParaRPr lang="en-CA" sz="4000" dirty="0"/>
          </a:p>
        </p:txBody>
      </p:sp>
      <p:sp>
        <p:nvSpPr>
          <p:cNvPr id="11" name="Text 9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site, up to 15 pages, plus Google Ads and local SEO · everything in Growth, plus: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5331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search ads with call buttons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ready to hire can call you straight from Google.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1967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Ongoing ad management and tracking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adjustments, with every dollar tied to real calls and inquiries.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5331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dedicated ad landing pages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so paid clicks turn into calls, for example for emergency service and EV chargers.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1967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GTA community pages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found in each community you want more work from.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5331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SEO and Canadian directory listings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listings and monthly SEO work strengthen your Google Maps position.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1967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local guides a month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articles like “Do I need an ESA permit for a panel upgrade?” keep bringing in search traffic.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5193792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CA$1,190/month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Covers hosting and maintenance, content updates, Google Ads management and ongoing local SEO.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spend is billed separately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paid directly to Google.</a:t>
            </a:r>
            <a:endParaRPr lang="en-CA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9753356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PACKAGES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Side by side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691640"/>
            <a:ext cx="108200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964424" y="1691640"/>
            <a:ext cx="1764792" cy="7772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99632" y="16916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page</a:t>
            </a:r>
            <a:endParaRPr lang="en-CA" sz="1400" dirty="0"/>
          </a:p>
        </p:txBody>
      </p:sp>
      <p:sp>
        <p:nvSpPr>
          <p:cNvPr id="12" name="Text 10"/>
          <p:cNvSpPr/>
          <p:nvPr/>
        </p:nvSpPr>
        <p:spPr>
          <a:xfrm>
            <a:off x="7964424" y="16916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10 pages</a:t>
            </a:r>
            <a:endParaRPr lang="en-CA" sz="1400" dirty="0"/>
          </a:p>
          <a:p>
            <a:pPr algn="ctr"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</a:t>
            </a:r>
            <a:endParaRPr lang="en-CA" sz="1400" dirty="0"/>
          </a:p>
        </p:txBody>
      </p:sp>
      <p:sp>
        <p:nvSpPr>
          <p:cNvPr id="13" name="Text 11"/>
          <p:cNvSpPr/>
          <p:nvPr/>
        </p:nvSpPr>
        <p:spPr>
          <a:xfrm>
            <a:off x="9729216" y="1691640"/>
            <a:ext cx="17766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Dominance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15 pages</a:t>
            </a:r>
            <a:endParaRPr lang="en-CA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0820095" cy="914400"/>
        </p:xfrm>
        <a:graphic>
          <a:graphicData uri="http://schemas.openxmlformats.org/drawingml/2006/table">
            <a:tbl>
              <a:tblPr/>
              <a:tblGrid>
                <a:gridCol w="5513832"/>
                <a:gridCol w="1764792"/>
                <a:gridCol w="1764792"/>
                <a:gridCol w="1776679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Mobile-first design, tap-to-call, quote form and credentials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Dedicated service pages, project gallery and permits FAQ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Smart quote form with a commercial inquiry path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Business Profile optimization and lead tracking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search ads, landing pages and ongoing management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GTA community pages, directory listings and two guides a month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One-time investment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CA$1,450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CA$2,650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CA$4,850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support (first month free)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CA$89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CA$149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CA$1,190*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1691640"/>
            <a:ext cx="10820095" cy="3666744"/>
          </a:xfrm>
          <a:prstGeom prst="rect">
            <a:avLst/>
          </a:prstGeom>
          <a:solidFill>
            <a:srgbClr val="F7F5F0">
              <a:alpha val="0"/>
            </a:srgbClr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5800" y="5431536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Includes Google Ads management and local SEO; ad spend is billed separately. All prices in Canadian dollars, before HST, plus applicable tax.</a:t>
            </a:r>
            <a:endParaRPr lang="en-CA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5705856"/>
            <a:ext cx="108200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85800" y="5705856"/>
            <a:ext cx="64008" cy="40233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60120" y="570585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package: </a:t>
            </a:r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base, then add or remove services. Price on request.</a:t>
            </a:r>
            <a:endParaRPr lang="en-CA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10972526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RETURN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How quickly the investment can pay back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78308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19019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25–40</a:t>
            </a:r>
            <a:endParaRPr lang="en-CA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inquiries a month today</a:t>
            </a:r>
            <a:endParaRPr lang="en-CA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06240" y="19019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10–18</a:t>
            </a:r>
            <a:endParaRPr lang="en-CA" sz="2800" dirty="0"/>
          </a:p>
        </p:txBody>
      </p:sp>
      <p:sp>
        <p:nvSpPr>
          <p:cNvPr id="14" name="Text 12"/>
          <p:cNvSpPr/>
          <p:nvPr/>
        </p:nvSpPr>
        <p:spPr>
          <a:xfrm>
            <a:off x="42062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customers a month</a:t>
            </a:r>
            <a:endParaRPr lang="en-CA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1783080"/>
            <a:ext cx="4327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52360" y="1901952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CA$500–CA$2,500</a:t>
            </a:r>
            <a:endParaRPr lang="en-CA" sz="2800" dirty="0"/>
          </a:p>
        </p:txBody>
      </p:sp>
      <p:sp>
        <p:nvSpPr>
          <p:cNvPr id="17" name="Text 15"/>
          <p:cNvSpPr/>
          <p:nvPr/>
        </p:nvSpPr>
        <p:spPr>
          <a:xfrm>
            <a:off x="7452360" y="246888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of one new customer; more for large commercial projects</a:t>
            </a:r>
            <a:endParaRPr lang="en-CA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035808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figures Example Electrical shared with us.</a:t>
            </a:r>
            <a:endParaRPr lang="en-CA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10820095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0120" y="35844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</a:t>
            </a:r>
            <a:endParaRPr lang="en-CA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10271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Growth website brings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extra customers a month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CA$500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each, the low end of your range, that’s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CA$1,000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added revenue every month. At that pace, the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CA$2,650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is covered in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3 months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CA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919472"/>
            <a:ext cx="10271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Assumptions: 2 extra customers a month · CA$500 per customer · revenue before job costs · build cost only (CA$2,650 ÷ CA$1,000 = 2.65 months).</a:t>
            </a:r>
            <a:endParaRPr lang="en-CA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3766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comparison: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ads for electricians average $12.18 USD per click. A website that converts makes every click count, paid or free.</a:t>
            </a:r>
            <a:endParaRPr lang="en-CA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8521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LocaliQ, 2026 · US data, April 2024–March 2025</a:t>
            </a:r>
            <a:endParaRPr lang="en-CA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09360"/>
            <a:ext cx="12191695" cy="3657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Digital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Example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Ready when you are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CA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your package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Foundation, Growth, Dominance or a custom mix.</a:t>
            </a:r>
            <a:endParaRPr lang="en-CA" sz="1400" dirty="0"/>
          </a:p>
        </p:txBody>
      </p:sp>
      <p:sp>
        <p:nvSpPr>
          <p:cNvPr id="12" name="Shape 10"/>
          <p:cNvSpPr/>
          <p:nvPr/>
        </p:nvSpPr>
        <p:spPr>
          <a:xfrm>
            <a:off x="3447974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974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CA" sz="1100" dirty="0"/>
          </a:p>
        </p:txBody>
      </p:sp>
      <p:sp>
        <p:nvSpPr>
          <p:cNvPr id="14" name="Text 12"/>
          <p:cNvSpPr/>
          <p:nvPr/>
        </p:nvSpPr>
        <p:spPr>
          <a:xfrm>
            <a:off x="3447974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your start date.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0148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CA" sz="1100" dirty="0"/>
          </a:p>
        </p:txBody>
      </p:sp>
      <p:sp>
        <p:nvSpPr>
          <p:cNvPr id="17" name="Text 15"/>
          <p:cNvSpPr/>
          <p:nvPr/>
        </p:nvSpPr>
        <p:spPr>
          <a:xfrm>
            <a:off x="6210148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Kickoff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gather your content, photos and licence details.</a:t>
            </a:r>
            <a:endParaRPr lang="en-CA" sz="1400" dirty="0"/>
          </a:p>
        </p:txBody>
      </p:sp>
      <p:sp>
        <p:nvSpPr>
          <p:cNvPr id="18" name="Shape 16"/>
          <p:cNvSpPr/>
          <p:nvPr/>
        </p:nvSpPr>
        <p:spPr>
          <a:xfrm>
            <a:off x="8972321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72321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CA" sz="1100" dirty="0"/>
          </a:p>
        </p:txBody>
      </p:sp>
      <p:sp>
        <p:nvSpPr>
          <p:cNvPr id="20" name="Text 18"/>
          <p:cNvSpPr/>
          <p:nvPr/>
        </p:nvSpPr>
        <p:spPr>
          <a:xfrm>
            <a:off x="8972321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month of support is free.</a:t>
            </a:r>
            <a:endParaRPr lang="en-CA" sz="1400" dirty="0"/>
          </a:p>
        </p:txBody>
      </p:sp>
      <p:sp>
        <p:nvSpPr>
          <p:cNvPr id="22" name="Text 19"/>
          <p:cNvSpPr/>
          <p:nvPr/>
        </p:nvSpPr>
        <p:spPr>
          <a:xfrm>
            <a:off x="2011680" y="43434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Example Digital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hello@example.com</a:t>
            </a:r>
            <a:endParaRPr lang="en-CA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+1 555 0100</a:t>
            </a:r>
            <a:endParaRPr lang="en-CA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example.com</a:t>
            </a:r>
            <a:endParaRPr lang="en-CA" sz="1400" dirty="0"/>
          </a:p>
        </p:txBody>
      </p:sp>
      <p:sp>
        <p:nvSpPr>
          <p:cNvPr id="23" name="Shape 20"/>
          <p:cNvSpPr/>
          <p:nvPr/>
        </p:nvSpPr>
        <p:spPr>
          <a:xfrm>
            <a:off x="7406640" y="4617720"/>
            <a:ext cx="4096512" cy="5669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406640" y="461772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4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your package and we’ll get started</a:t>
            </a:r>
            <a:endParaRPr lang="en-C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Example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Electrical Solutions — Website Proposal</dc:title>
  <dc:subject>Website offer: three packages plus a custom option</dc:subject>
  <dc:creator>Example Digital</dc:creator>
  <cp:lastModifiedBy>Example Digital</cp:lastModifiedBy>
  <cp:revision>1</cp:revision>
  <dcterms:created xsi:type="dcterms:W3CDTF">2026-09-15T15:57:29Z</dcterms:created>
  <dcterms:modified xsi:type="dcterms:W3CDTF">2026-09-15T15:57:29Z</dcterms:modified>
</cp:coreProperties>
</file>